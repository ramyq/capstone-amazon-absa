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FDE0D3-FB4E-4500-9ABB-49998318574A}">
  <a:tblStyle styleId="{71FDE0D3-FB4E-4500-9ABB-49998318574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e2e1305f_2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f5e2e1305f_2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5" name="Google Shape;55;g3f5e2e1305f_2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5e2e1305f_2_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g3f5e2e1305f_2_1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4" name="Google Shape;64;g3f5e2e1305f_2_1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5e2e1305f_2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g3f5e2e1305f_2_1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3" name="Google Shape;73;g3f5e2e1305f_2_1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5e2e1305f_2_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g3f5e2e1305f_2_2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1" name="Google Shape;81;g3f5e2e1305f_2_2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5e2e1305f_2_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g3f5e2e1305f_2_2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9" name="Google Shape;89;g3f5e2e1305f_2_2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5e2e1305f_2_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g3f5e2e1305f_2_6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8" name="Google Shape;98;g3f5e2e1305f_2_6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5e2e1305f_2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g3f5e2e1305f_2_3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7" name="Google Shape;107;g3f5e2e1305f_2_3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5e2e1305f_2_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g3f5e2e1305f_2_4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6" name="Google Shape;116;g3f5e2e1305f_2_4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5e2e1305f_2_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g3f5e2e1305f_2_7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6" name="Google Shape;126;g3f5e2e1305f_2_7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5e2e1305f_2_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g3f5e2e1305f_2_9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5" name="Google Shape;135;g3f5e2e1305f_2_9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5e2e1305f_2_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g3f5e2e1305f_2_5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4" name="Google Shape;144;g3f5e2e1305f_2_5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5e2e1305f_2_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g3f5e2e1305f_2_5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3" name="Google Shape;153;g3f5e2e1305f_2_5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5e2e1305f_2_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g3f5e2e1305f_2_7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2" name="Google Shape;162;g3f5e2e1305f_2_7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5e2e1305f_2_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g3f5e2e1305f_2_9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1" name="Google Shape;171;g3f5e2e1305f_2_9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5e2e1305f_2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g3f5e2e1305f_2_8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0" name="Google Shape;180;g3f5e2e1305f_2_8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5e2e1305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5e2e1305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5e2e1305f_2_1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g3f5e2e1305f_2_10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6" name="Google Shape;196;g3f5e2e1305f_2_10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5e2e1305f_2_1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f5e2e1305f_2_11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4" name="Google Shape;204;g3f5e2e1305f_2_11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5e2e1305f_2_1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g3f5e2e1305f_2_11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2" name="Google Shape;212;g3f5e2e1305f_2_11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5"/>
          <p:cNvSpPr/>
          <p:nvPr/>
        </p:nvSpPr>
        <p:spPr>
          <a:xfrm>
            <a:off x="-12750" y="2825"/>
            <a:ext cx="9144000" cy="5143500"/>
          </a:xfrm>
          <a:prstGeom prst="rect">
            <a:avLst/>
          </a:prstGeom>
          <a:solidFill>
            <a:srgbClr val="1B3A5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5"/>
          <p:cNvSpPr/>
          <p:nvPr/>
        </p:nvSpPr>
        <p:spPr>
          <a:xfrm>
            <a:off x="731520" y="1737360"/>
            <a:ext cx="768096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3000"/>
              <a:buFont typeface="Calibri"/>
              <a:buNone/>
            </a:pPr>
            <a:r>
              <a:rPr b="1" i="0" lang="en" sz="3000" u="none" cap="none" strike="noStrike">
                <a:solidFill>
                  <a:schemeClr val="lt1"/>
                </a:solidFill>
                <a:latin typeface="Calibri"/>
                <a:ea typeface="Calibri"/>
                <a:cs typeface="Calibri"/>
                <a:sym typeface="Calibri"/>
              </a:rPr>
              <a:t>Aspect-Based Sentiment Analysis on Amazon Reviews</a:t>
            </a:r>
            <a:endParaRPr b="0" i="0" sz="3000" u="none" cap="none" strike="noStrike">
              <a:solidFill>
                <a:schemeClr val="lt1"/>
              </a:solidFill>
              <a:latin typeface="Calibri"/>
              <a:ea typeface="Calibri"/>
              <a:cs typeface="Calibri"/>
              <a:sym typeface="Calibri"/>
            </a:endParaRPr>
          </a:p>
        </p:txBody>
      </p:sp>
      <p:sp>
        <p:nvSpPr>
          <p:cNvPr id="59" name="Google Shape;59;p15"/>
          <p:cNvSpPr/>
          <p:nvPr/>
        </p:nvSpPr>
        <p:spPr>
          <a:xfrm>
            <a:off x="731520" y="2651760"/>
            <a:ext cx="7680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700"/>
              <a:buFont typeface="Calibri"/>
              <a:buNone/>
            </a:pPr>
            <a:r>
              <a:rPr b="0" i="0" lang="en" sz="1700" u="none" cap="none" strike="noStrike">
                <a:solidFill>
                  <a:srgbClr val="DBDFE3"/>
                </a:solidFill>
                <a:latin typeface="Calibri"/>
                <a:ea typeface="Calibri"/>
                <a:cs typeface="Calibri"/>
                <a:sym typeface="Calibri"/>
              </a:rPr>
              <a:t>Using LLM-Generated Silver Labels and Fine-Tuned ModernBERT</a:t>
            </a:r>
            <a:endParaRPr b="0" i="0" sz="1700" u="none" cap="none" strike="noStrike">
              <a:solidFill>
                <a:srgbClr val="DBDFE3"/>
              </a:solidFill>
              <a:latin typeface="Calibri"/>
              <a:ea typeface="Calibri"/>
              <a:cs typeface="Calibri"/>
              <a:sym typeface="Calibri"/>
            </a:endParaRPr>
          </a:p>
        </p:txBody>
      </p:sp>
      <p:sp>
        <p:nvSpPr>
          <p:cNvPr id="60" name="Google Shape;60;p15"/>
          <p:cNvSpPr/>
          <p:nvPr/>
        </p:nvSpPr>
        <p:spPr>
          <a:xfrm>
            <a:off x="731520" y="3840480"/>
            <a:ext cx="76809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77777"/>
              </a:buClr>
              <a:buSzPts val="1300"/>
              <a:buFont typeface="Calibri"/>
              <a:buNone/>
            </a:pPr>
            <a:r>
              <a:rPr b="0" i="0" lang="en" sz="1300" u="none" cap="none" strike="noStrike">
                <a:solidFill>
                  <a:schemeClr val="lt1"/>
                </a:solidFill>
                <a:latin typeface="Calibri"/>
                <a:ea typeface="Calibri"/>
                <a:cs typeface="Calibri"/>
                <a:sym typeface="Calibri"/>
              </a:rPr>
              <a:t>DATA-6900 Capstone</a:t>
            </a:r>
            <a:endParaRPr b="0" i="0" sz="1300" u="none" cap="none" strike="noStrike">
              <a:solidFill>
                <a:schemeClr val="lt1"/>
              </a:solidFill>
              <a:latin typeface="Calibri"/>
              <a:ea typeface="Calibri"/>
              <a:cs typeface="Calibri"/>
              <a:sym typeface="Calibri"/>
            </a:endParaRPr>
          </a:p>
          <a:p>
            <a:pPr indent="0" lvl="0" marL="0" marR="0" rtl="0" algn="ctr">
              <a:spcBef>
                <a:spcPts val="0"/>
              </a:spcBef>
              <a:spcAft>
                <a:spcPts val="0"/>
              </a:spcAft>
              <a:buClr>
                <a:srgbClr val="777777"/>
              </a:buClr>
              <a:buSzPts val="1300"/>
              <a:buFont typeface="Calibri"/>
              <a:buNone/>
            </a:pPr>
            <a:r>
              <a:rPr lang="en" sz="1300">
                <a:solidFill>
                  <a:schemeClr val="lt1"/>
                </a:solidFill>
                <a:latin typeface="Calibri"/>
                <a:ea typeface="Calibri"/>
                <a:cs typeface="Calibri"/>
                <a:sym typeface="Calibri"/>
              </a:rPr>
              <a:t>Ramy Qranfal</a:t>
            </a:r>
            <a:endParaRPr sz="1300">
              <a:solidFill>
                <a:schemeClr val="lt1"/>
              </a:solidFill>
              <a:latin typeface="Calibri"/>
              <a:ea typeface="Calibri"/>
              <a:cs typeface="Calibri"/>
              <a:sym typeface="Calibri"/>
            </a:endParaRPr>
          </a:p>
          <a:p>
            <a:pPr indent="0" lvl="0" marL="0" marR="0" rtl="0" algn="ctr">
              <a:spcBef>
                <a:spcPts val="0"/>
              </a:spcBef>
              <a:spcAft>
                <a:spcPts val="0"/>
              </a:spcAft>
              <a:buClr>
                <a:srgbClr val="777777"/>
              </a:buClr>
              <a:buSzPts val="1300"/>
              <a:buFont typeface="Calibri"/>
              <a:buNone/>
            </a:pPr>
            <a:r>
              <a:t/>
            </a:r>
            <a:endParaRPr b="0" i="0" sz="1300" u="none" cap="none" strike="noStrike">
              <a:solidFill>
                <a:srgbClr val="777777"/>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6"/>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6"/>
          <p:cNvSpPr/>
          <p:nvPr/>
        </p:nvSpPr>
        <p:spPr>
          <a:xfrm>
            <a:off x="548700" y="365735"/>
            <a:ext cx="8046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Background</a:t>
            </a:r>
            <a:endParaRPr sz="2800">
              <a:solidFill>
                <a:schemeClr val="lt1"/>
              </a:solidFill>
              <a:latin typeface="Calibri"/>
              <a:ea typeface="Calibri"/>
              <a:cs typeface="Calibri"/>
              <a:sym typeface="Calibri"/>
            </a:endParaRPr>
          </a:p>
        </p:txBody>
      </p:sp>
      <p:sp>
        <p:nvSpPr>
          <p:cNvPr id="68" name="Google Shape;68;p16"/>
          <p:cNvSpPr/>
          <p:nvPr/>
        </p:nvSpPr>
        <p:spPr>
          <a:xfrm>
            <a:off x="731520" y="1371600"/>
            <a:ext cx="768096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333333"/>
              </a:buClr>
              <a:buSzPts val="1700"/>
              <a:buFont typeface="Calibri"/>
              <a:buNone/>
            </a:pPr>
            <a:r>
              <a:rPr lang="en" sz="1700">
                <a:solidFill>
                  <a:schemeClr val="dk1"/>
                </a:solidFill>
                <a:latin typeface="Calibri"/>
                <a:ea typeface="Calibri"/>
                <a:cs typeface="Calibri"/>
                <a:sym typeface="Calibri"/>
              </a:rPr>
              <a:t>Amazon has millions of product reviews, but a single review often mentions multiple features with different opinions. Current sentiment analysis tools only give one overall label per review, missing the specific details that sellers need to improve their products.</a:t>
            </a:r>
            <a:endParaRPr sz="1700">
              <a:solidFill>
                <a:schemeClr val="dk1"/>
              </a:solidFill>
              <a:latin typeface="Calibri"/>
              <a:ea typeface="Calibri"/>
              <a:cs typeface="Calibri"/>
              <a:sym typeface="Calibri"/>
            </a:endParaRPr>
          </a:p>
        </p:txBody>
      </p:sp>
      <p:pic>
        <p:nvPicPr>
          <p:cNvPr id="69" name="Google Shape;69;p16"/>
          <p:cNvPicPr preferRelativeResize="0"/>
          <p:nvPr/>
        </p:nvPicPr>
        <p:blipFill>
          <a:blip r:embed="rId3">
            <a:alphaModFix/>
          </a:blip>
          <a:stretch>
            <a:fillRect/>
          </a:stretch>
        </p:blipFill>
        <p:spPr>
          <a:xfrm>
            <a:off x="2809200" y="2853100"/>
            <a:ext cx="3901440" cy="2095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7"/>
          <p:cNvSpPr/>
          <p:nvPr/>
        </p:nvSpPr>
        <p:spPr>
          <a:xfrm>
            <a:off x="548640" y="365760"/>
            <a:ext cx="8046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Problem Statement</a:t>
            </a:r>
            <a:endParaRPr b="1" sz="2800">
              <a:solidFill>
                <a:schemeClr val="lt1"/>
              </a:solidFill>
              <a:latin typeface="Calibri"/>
              <a:ea typeface="Calibri"/>
              <a:cs typeface="Calibri"/>
              <a:sym typeface="Calibri"/>
            </a:endParaRPr>
          </a:p>
        </p:txBody>
      </p:sp>
      <p:sp>
        <p:nvSpPr>
          <p:cNvPr id="77" name="Google Shape;77;p17"/>
          <p:cNvSpPr/>
          <p:nvPr/>
        </p:nvSpPr>
        <p:spPr>
          <a:xfrm>
            <a:off x="731520" y="1280160"/>
            <a:ext cx="7680960" cy="310896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333333"/>
              </a:buClr>
              <a:buSzPts val="1500"/>
              <a:buFont typeface="Calibri"/>
              <a:buNone/>
            </a:pPr>
            <a:r>
              <a:rPr b="1" lang="en" sz="1500">
                <a:solidFill>
                  <a:schemeClr val="dk1"/>
                </a:solidFill>
                <a:latin typeface="Calibri"/>
                <a:ea typeface="Calibri"/>
                <a:cs typeface="Calibri"/>
                <a:sym typeface="Calibri"/>
              </a:rPr>
              <a:t>Example Review:</a:t>
            </a:r>
            <a:endParaRPr sz="15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33333"/>
              </a:buClr>
              <a:buSzPts val="1500"/>
              <a:buFont typeface="Calibri"/>
              <a:buNone/>
            </a:pPr>
            <a:r>
              <a:rPr i="1" lang="en" sz="1500">
                <a:solidFill>
                  <a:srgbClr val="333333"/>
                </a:solidFill>
                <a:latin typeface="Calibri"/>
                <a:ea typeface="Calibri"/>
                <a:cs typeface="Calibri"/>
                <a:sym typeface="Calibri"/>
              </a:rPr>
              <a:t>“</a:t>
            </a:r>
            <a:r>
              <a:rPr i="1" lang="en" sz="1500">
                <a:solidFill>
                  <a:schemeClr val="dk1"/>
                </a:solidFill>
                <a:latin typeface="Calibri"/>
                <a:ea typeface="Calibri"/>
                <a:cs typeface="Calibri"/>
                <a:sym typeface="Calibri"/>
              </a:rPr>
              <a:t>The</a:t>
            </a:r>
            <a:r>
              <a:rPr i="1" lang="en" sz="1500">
                <a:solidFill>
                  <a:srgbClr val="333333"/>
                </a:solidFill>
                <a:latin typeface="Calibri"/>
                <a:ea typeface="Calibri"/>
                <a:cs typeface="Calibri"/>
                <a:sym typeface="Calibri"/>
              </a:rPr>
              <a:t> </a:t>
            </a:r>
            <a:r>
              <a:rPr i="1" lang="en" sz="1500">
                <a:solidFill>
                  <a:srgbClr val="00B050"/>
                </a:solidFill>
                <a:latin typeface="Calibri"/>
                <a:ea typeface="Calibri"/>
                <a:cs typeface="Calibri"/>
                <a:sym typeface="Calibri"/>
              </a:rPr>
              <a:t>battery life is great </a:t>
            </a:r>
            <a:r>
              <a:rPr i="1" lang="en" sz="1500">
                <a:solidFill>
                  <a:schemeClr val="dk1"/>
                </a:solidFill>
                <a:latin typeface="Calibri"/>
                <a:ea typeface="Calibri"/>
                <a:cs typeface="Calibri"/>
                <a:sym typeface="Calibri"/>
              </a:rPr>
              <a:t>but the </a:t>
            </a:r>
            <a:r>
              <a:rPr i="1" lang="en" sz="1500">
                <a:solidFill>
                  <a:srgbClr val="FF0000"/>
                </a:solidFill>
                <a:latin typeface="Calibri"/>
                <a:ea typeface="Calibri"/>
                <a:cs typeface="Calibri"/>
                <a:sym typeface="Calibri"/>
              </a:rPr>
              <a:t>sound quality is terrible </a:t>
            </a:r>
            <a:r>
              <a:rPr i="1" lang="en" sz="1500">
                <a:solidFill>
                  <a:schemeClr val="dk1"/>
                </a:solidFill>
                <a:latin typeface="Calibri"/>
                <a:ea typeface="Calibri"/>
                <a:cs typeface="Calibri"/>
                <a:sym typeface="Calibri"/>
              </a:rPr>
              <a:t>and the </a:t>
            </a:r>
            <a:r>
              <a:rPr i="1" lang="en" sz="1500">
                <a:solidFill>
                  <a:srgbClr val="FFD865"/>
                </a:solidFill>
                <a:latin typeface="Calibri"/>
                <a:ea typeface="Calibri"/>
                <a:cs typeface="Calibri"/>
                <a:sym typeface="Calibri"/>
              </a:rPr>
              <a:t>screen is just okay</a:t>
            </a:r>
            <a:r>
              <a:rPr i="1" lang="en" sz="1500">
                <a:solidFill>
                  <a:srgbClr val="333333"/>
                </a:solidFill>
                <a:latin typeface="Calibri"/>
                <a:ea typeface="Calibri"/>
                <a:cs typeface="Calibri"/>
                <a:sym typeface="Calibri"/>
              </a:rPr>
              <a:t>.”</a:t>
            </a:r>
            <a:endParaRPr sz="15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33333"/>
              </a:buClr>
              <a:buSzPts val="800"/>
              <a:buFont typeface="Calibri"/>
              <a:buNone/>
            </a:pPr>
            <a:r>
              <a:rPr lang="en" sz="800">
                <a:solidFill>
                  <a:srgbClr val="333333"/>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33333"/>
              </a:buClr>
              <a:buSzPts val="1500"/>
              <a:buFont typeface="Calibri"/>
              <a:buNone/>
            </a:pPr>
            <a:r>
              <a:rPr b="1" lang="en" sz="1500">
                <a:solidFill>
                  <a:schemeClr val="dk1"/>
                </a:solidFill>
                <a:latin typeface="Calibri"/>
                <a:ea typeface="Calibri"/>
                <a:cs typeface="Calibri"/>
                <a:sym typeface="Calibri"/>
              </a:rPr>
              <a:t>Traditional Sentiment Analysis:</a:t>
            </a:r>
            <a:endParaRPr sz="15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33333"/>
              </a:buClr>
              <a:buSzPts val="1500"/>
              <a:buFont typeface="Calibri"/>
              <a:buNone/>
            </a:pPr>
            <a:r>
              <a:rPr lang="en" sz="1500">
                <a:solidFill>
                  <a:schemeClr val="dk1"/>
                </a:solidFill>
                <a:latin typeface="Calibri"/>
                <a:ea typeface="Calibri"/>
                <a:cs typeface="Calibri"/>
                <a:sym typeface="Calibri"/>
              </a:rPr>
              <a:t>Classifies the entire review as positive, neutral, or negative. Misses the key aspect-sentiment pair details.</a:t>
            </a:r>
            <a:endParaRPr sz="15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33333"/>
              </a:buClr>
              <a:buSzPts val="800"/>
              <a:buFont typeface="Calibri"/>
              <a:buNone/>
            </a:pPr>
            <a:r>
              <a:rPr lang="en" sz="8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33333"/>
              </a:buClr>
              <a:buSzPts val="1500"/>
              <a:buFont typeface="Calibri"/>
              <a:buNone/>
            </a:pPr>
            <a:r>
              <a:rPr b="1" lang="en" sz="1500">
                <a:solidFill>
                  <a:schemeClr val="dk1"/>
                </a:solidFill>
                <a:latin typeface="Calibri"/>
                <a:ea typeface="Calibri"/>
                <a:cs typeface="Calibri"/>
                <a:sym typeface="Calibri"/>
              </a:rPr>
              <a:t>Aspect-Based Sentiment Analysis (ABSA):</a:t>
            </a:r>
            <a:endParaRPr sz="15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33333"/>
              </a:buClr>
              <a:buSzPts val="1500"/>
              <a:buFont typeface="Calibri"/>
              <a:buNone/>
            </a:pPr>
            <a:r>
              <a:rPr lang="en" sz="1500">
                <a:solidFill>
                  <a:schemeClr val="dk1"/>
                </a:solidFill>
                <a:latin typeface="Calibri"/>
                <a:ea typeface="Calibri"/>
                <a:cs typeface="Calibri"/>
                <a:sym typeface="Calibri"/>
              </a:rPr>
              <a:t>Extracts each product aspect and classifies their sentiments separately. Sellers can see exactly which features customers like and dislike.</a:t>
            </a:r>
            <a:endParaRPr sz="15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8"/>
          <p:cNvSpPr/>
          <p:nvPr/>
        </p:nvSpPr>
        <p:spPr>
          <a:xfrm>
            <a:off x="548640" y="365760"/>
            <a:ext cx="8046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Methodology and Approach</a:t>
            </a:r>
            <a:endParaRPr sz="2800">
              <a:solidFill>
                <a:schemeClr val="lt1"/>
              </a:solidFill>
              <a:latin typeface="Calibri"/>
              <a:ea typeface="Calibri"/>
              <a:cs typeface="Calibri"/>
              <a:sym typeface="Calibri"/>
            </a:endParaRPr>
          </a:p>
        </p:txBody>
      </p:sp>
      <p:sp>
        <p:nvSpPr>
          <p:cNvPr id="85" name="Google Shape;85;p18"/>
          <p:cNvSpPr/>
          <p:nvPr/>
        </p:nvSpPr>
        <p:spPr>
          <a:xfrm>
            <a:off x="731525" y="1234451"/>
            <a:ext cx="7665300" cy="3146700"/>
          </a:xfrm>
          <a:prstGeom prst="rect">
            <a:avLst/>
          </a:prstGeom>
          <a:noFill/>
          <a:ln>
            <a:noFill/>
          </a:ln>
        </p:spPr>
        <p:txBody>
          <a:bodyPr anchorCtr="0" anchor="ctr" bIns="45700" lIns="91425" spcFirstLastPara="1" rIns="91425" wrap="square" tIns="45700">
            <a:noAutofit/>
          </a:bodyPr>
          <a:lstStyle/>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Download Amazon Reviews 2023 for 5 categories: Electronics, Beauty and Personal Care, Video Games, Amazon Fashion, and Books</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Hold out 100 reviews (20 per category) as manual validation set (before any training)</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Sample 2000 reviews per category (10000 total) using stratified sampling by sub-category</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Run each review through Llama 3 8B locally to extract aspect-sentiment pairs</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Format as "review [SEP] aspect" and split 80/10/10 for training</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Fine-tune ModernBERT to classify sentiment given each aspect-sentiment pair</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Compare against baselines (Logistic Regression, SVM, Random Forest, Stacking, Direct Llama Calling)</a:t>
            </a:r>
            <a:endParaRPr sz="15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9"/>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Dataset Overview</a:t>
            </a:r>
            <a:endParaRPr sz="2800">
              <a:solidFill>
                <a:schemeClr val="lt1"/>
              </a:solidFill>
              <a:latin typeface="Calibri"/>
              <a:ea typeface="Calibri"/>
              <a:cs typeface="Calibri"/>
              <a:sym typeface="Calibri"/>
            </a:endParaRPr>
          </a:p>
        </p:txBody>
      </p:sp>
      <p:graphicFrame>
        <p:nvGraphicFramePr>
          <p:cNvPr id="93" name="Google Shape;93;p19"/>
          <p:cNvGraphicFramePr/>
          <p:nvPr/>
        </p:nvGraphicFramePr>
        <p:xfrm>
          <a:off x="640080" y="1188720"/>
          <a:ext cx="3000000" cy="3000000"/>
        </p:xfrm>
        <a:graphic>
          <a:graphicData uri="http://schemas.openxmlformats.org/drawingml/2006/table">
            <a:tbl>
              <a:tblPr>
                <a:noFill/>
                <a:tableStyleId>{71FDE0D3-FB4E-4500-9ABB-49998318574A}</a:tableStyleId>
              </a:tblPr>
              <a:tblGrid>
                <a:gridCol w="2377450"/>
                <a:gridCol w="1371600"/>
                <a:gridCol w="1371600"/>
                <a:gridCol w="1371600"/>
                <a:gridCol w="1371600"/>
              </a:tblGrid>
              <a:tr h="274325">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lt1"/>
                          </a:solidFill>
                          <a:latin typeface="Calibri"/>
                          <a:ea typeface="Calibri"/>
                          <a:cs typeface="Calibri"/>
                          <a:sym typeface="Calibri"/>
                        </a:rPr>
                        <a:t>Category</a:t>
                      </a:r>
                      <a:endParaRPr b="1" sz="12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lt1"/>
                          </a:solidFill>
                          <a:latin typeface="Calibri"/>
                          <a:ea typeface="Calibri"/>
                          <a:cs typeface="Calibri"/>
                          <a:sym typeface="Calibri"/>
                        </a:rPr>
                        <a:t>Positive</a:t>
                      </a:r>
                      <a:endParaRPr b="1" sz="12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lt1"/>
                          </a:solidFill>
                          <a:latin typeface="Calibri"/>
                          <a:ea typeface="Calibri"/>
                          <a:cs typeface="Calibri"/>
                          <a:sym typeface="Calibri"/>
                        </a:rPr>
                        <a:t>Neutral</a:t>
                      </a:r>
                      <a:endParaRPr b="1" sz="12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lt1"/>
                          </a:solidFill>
                          <a:latin typeface="Calibri"/>
                          <a:ea typeface="Calibri"/>
                          <a:cs typeface="Calibri"/>
                          <a:sym typeface="Calibri"/>
                        </a:rPr>
                        <a:t>Negative</a:t>
                      </a:r>
                      <a:endParaRPr b="1" sz="12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lt1"/>
                          </a:solidFill>
                          <a:latin typeface="Calibri"/>
                          <a:ea typeface="Calibri"/>
                          <a:cs typeface="Calibri"/>
                          <a:sym typeface="Calibri"/>
                        </a:rPr>
                        <a:t>Total</a:t>
                      </a:r>
                      <a:endParaRPr b="1" sz="12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r>
              <a:tr h="274325">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Electronics</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4,242</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1,280</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1,726</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7,248</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74325">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Beauty and Personal Care</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5,494</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1,692</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1,715</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8,901</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74325">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Video Games</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3,650</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1,176</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1,965</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6,791</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74325">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Amazon Fashion</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3,787</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1,038</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1,647</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6,472</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74325">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Books</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4,617</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1,814</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1,399</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lang="en" sz="1200" u="none" cap="none" strike="noStrike">
                          <a:solidFill>
                            <a:schemeClr val="dk1"/>
                          </a:solidFill>
                          <a:latin typeface="Calibri"/>
                          <a:ea typeface="Calibri"/>
                          <a:cs typeface="Calibri"/>
                          <a:sym typeface="Calibri"/>
                        </a:rPr>
                        <a:t>7,830</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74325">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dk1"/>
                          </a:solidFill>
                          <a:latin typeface="Calibri"/>
                          <a:ea typeface="Calibri"/>
                          <a:cs typeface="Calibri"/>
                          <a:sym typeface="Calibri"/>
                        </a:rPr>
                        <a:t>Total</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dk1"/>
                          </a:solidFill>
                          <a:latin typeface="Calibri"/>
                          <a:ea typeface="Calibri"/>
                          <a:cs typeface="Calibri"/>
                          <a:sym typeface="Calibri"/>
                        </a:rPr>
                        <a:t>21,790</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dk1"/>
                          </a:solidFill>
                          <a:latin typeface="Calibri"/>
                          <a:ea typeface="Calibri"/>
                          <a:cs typeface="Calibri"/>
                          <a:sym typeface="Calibri"/>
                        </a:rPr>
                        <a:t>7,000</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dk1"/>
                          </a:solidFill>
                          <a:latin typeface="Calibri"/>
                          <a:ea typeface="Calibri"/>
                          <a:cs typeface="Calibri"/>
                          <a:sym typeface="Calibri"/>
                        </a:rPr>
                        <a:t>8,452</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200"/>
                        <a:buFont typeface="Calibri"/>
                        <a:buNone/>
                      </a:pPr>
                      <a:r>
                        <a:rPr b="1" lang="en" sz="1200" u="none" cap="none" strike="noStrike">
                          <a:solidFill>
                            <a:schemeClr val="dk1"/>
                          </a:solidFill>
                          <a:latin typeface="Calibri"/>
                          <a:ea typeface="Calibri"/>
                          <a:cs typeface="Calibri"/>
                          <a:sym typeface="Calibri"/>
                        </a:rPr>
                        <a:t>37,242</a:t>
                      </a:r>
                      <a:endParaRPr sz="12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bl>
          </a:graphicData>
        </a:graphic>
      </p:graphicFrame>
      <p:sp>
        <p:nvSpPr>
          <p:cNvPr id="94" name="Google Shape;94;p19"/>
          <p:cNvSpPr/>
          <p:nvPr/>
        </p:nvSpPr>
        <p:spPr>
          <a:xfrm>
            <a:off x="640075" y="3230875"/>
            <a:ext cx="7345800" cy="146970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Beauty and Personal Care </a:t>
            </a:r>
            <a:r>
              <a:rPr lang="en">
                <a:solidFill>
                  <a:schemeClr val="dk1"/>
                </a:solidFill>
                <a:latin typeface="Calibri"/>
                <a:ea typeface="Calibri"/>
                <a:cs typeface="Calibri"/>
                <a:sym typeface="Calibri"/>
              </a:rPr>
              <a:t>produced </a:t>
            </a:r>
            <a:r>
              <a:rPr lang="en">
                <a:solidFill>
                  <a:schemeClr val="dk1"/>
                </a:solidFill>
                <a:latin typeface="Calibri"/>
                <a:ea typeface="Calibri"/>
                <a:cs typeface="Calibri"/>
                <a:sym typeface="Calibri"/>
              </a:rPr>
              <a:t>the highest number of aspect-sentiment pairs, and Amazon Fashion the lowest</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Reviews containing fewer than 10 words were excluded during preprocessing</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Each review produced three to four aspect-sentiment pairs on average</a:t>
            </a:r>
            <a:endParaRPr sz="1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20"/>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Label Agreement Rate</a:t>
            </a:r>
            <a:endParaRPr sz="2800">
              <a:solidFill>
                <a:schemeClr val="lt1"/>
              </a:solidFill>
              <a:latin typeface="Calibri"/>
              <a:ea typeface="Calibri"/>
              <a:cs typeface="Calibri"/>
              <a:sym typeface="Calibri"/>
            </a:endParaRPr>
          </a:p>
        </p:txBody>
      </p:sp>
      <p:graphicFrame>
        <p:nvGraphicFramePr>
          <p:cNvPr id="102" name="Google Shape;102;p20"/>
          <p:cNvGraphicFramePr/>
          <p:nvPr/>
        </p:nvGraphicFramePr>
        <p:xfrm>
          <a:off x="1463040" y="1188720"/>
          <a:ext cx="3000000" cy="3000000"/>
        </p:xfrm>
        <a:graphic>
          <a:graphicData uri="http://schemas.openxmlformats.org/drawingml/2006/table">
            <a:tbl>
              <a:tblPr>
                <a:noFill/>
                <a:tableStyleId>{71FDE0D3-FB4E-4500-9ABB-49998318574A}</a:tableStyleId>
              </a:tblPr>
              <a:tblGrid>
                <a:gridCol w="2560325"/>
                <a:gridCol w="1828800"/>
                <a:gridCol w="1828800"/>
              </a:tblGrid>
              <a:tr h="292600">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lt1"/>
                          </a:solidFill>
                          <a:latin typeface="Calibri"/>
                          <a:ea typeface="Calibri"/>
                          <a:cs typeface="Calibri"/>
                          <a:sym typeface="Calibri"/>
                        </a:rPr>
                        <a:t>Category</a:t>
                      </a:r>
                      <a:endParaRPr b="1" sz="13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lt1"/>
                          </a:solidFill>
                          <a:latin typeface="Calibri"/>
                          <a:ea typeface="Calibri"/>
                          <a:cs typeface="Calibri"/>
                          <a:sym typeface="Calibri"/>
                        </a:rPr>
                        <a:t>Labels Checked</a:t>
                      </a:r>
                      <a:endParaRPr b="1" sz="13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lt1"/>
                          </a:solidFill>
                          <a:latin typeface="Calibri"/>
                          <a:ea typeface="Calibri"/>
                          <a:cs typeface="Calibri"/>
                          <a:sym typeface="Calibri"/>
                        </a:rPr>
                        <a:t>Agreement</a:t>
                      </a:r>
                      <a:endParaRPr b="1" sz="13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Electronics</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70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94.3%</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Beauty and Personal Care</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92</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100%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Video Games</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89</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100%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Amazon Fashion</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34</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100%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Books</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100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100%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bl>
          </a:graphicData>
        </a:graphic>
      </p:graphicFrame>
      <p:sp>
        <p:nvSpPr>
          <p:cNvPr id="103" name="Google Shape;103;p20"/>
          <p:cNvSpPr/>
          <p:nvPr/>
        </p:nvSpPr>
        <p:spPr>
          <a:xfrm>
            <a:off x="1143000" y="2957512"/>
            <a:ext cx="6591300" cy="208026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Llama 3 8B labeled the 100 reviews in the manual verification set, then every label was checked against the review text and corrected where wrong</a:t>
            </a:r>
            <a:endParaRPr>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Agreement is at least 94% per category, above the 80% target set in the proposal</a:t>
            </a:r>
            <a:endParaRPr>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This level of agreement supports the use of the silver labels as training data</a:t>
            </a:r>
            <a:endParaRPr>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1"/>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Fine-Tuned ModernBERT Results</a:t>
            </a:r>
            <a:endParaRPr sz="2800">
              <a:solidFill>
                <a:schemeClr val="lt1"/>
              </a:solidFill>
              <a:latin typeface="Calibri"/>
              <a:ea typeface="Calibri"/>
              <a:cs typeface="Calibri"/>
              <a:sym typeface="Calibri"/>
            </a:endParaRPr>
          </a:p>
        </p:txBody>
      </p:sp>
      <p:graphicFrame>
        <p:nvGraphicFramePr>
          <p:cNvPr id="111" name="Google Shape;111;p21"/>
          <p:cNvGraphicFramePr/>
          <p:nvPr/>
        </p:nvGraphicFramePr>
        <p:xfrm>
          <a:off x="1371600" y="1234440"/>
          <a:ext cx="3000000" cy="3000000"/>
        </p:xfrm>
        <a:graphic>
          <a:graphicData uri="http://schemas.openxmlformats.org/drawingml/2006/table">
            <a:tbl>
              <a:tblPr>
                <a:noFill/>
                <a:tableStyleId>{71FDE0D3-FB4E-4500-9ABB-49998318574A}</a:tableStyleId>
              </a:tblPr>
              <a:tblGrid>
                <a:gridCol w="1280150"/>
                <a:gridCol w="1280150"/>
                <a:gridCol w="1280150"/>
                <a:gridCol w="1280150"/>
                <a:gridCol w="1280150"/>
              </a:tblGrid>
              <a:tr h="365750">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lt1"/>
                          </a:solidFill>
                          <a:latin typeface="Calibri"/>
                          <a:ea typeface="Calibri"/>
                          <a:cs typeface="Calibri"/>
                          <a:sym typeface="Calibri"/>
                        </a:rPr>
                        <a:t>Accuracy</a:t>
                      </a:r>
                      <a:endParaRPr b="1" sz="15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lt1"/>
                          </a:solidFill>
                          <a:latin typeface="Calibri"/>
                          <a:ea typeface="Calibri"/>
                          <a:cs typeface="Calibri"/>
                          <a:sym typeface="Calibri"/>
                        </a:rPr>
                        <a:t>F1 Macro</a:t>
                      </a:r>
                      <a:endParaRPr b="1" sz="15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lt1"/>
                          </a:solidFill>
                          <a:latin typeface="Calibri"/>
                          <a:ea typeface="Calibri"/>
                          <a:cs typeface="Calibri"/>
                          <a:sym typeface="Calibri"/>
                        </a:rPr>
                        <a:t>Precision</a:t>
                      </a:r>
                      <a:endParaRPr b="1" sz="15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lt1"/>
                          </a:solidFill>
                          <a:latin typeface="Calibri"/>
                          <a:ea typeface="Calibri"/>
                          <a:cs typeface="Calibri"/>
                          <a:sym typeface="Calibri"/>
                        </a:rPr>
                        <a:t>Recall</a:t>
                      </a:r>
                      <a:endParaRPr b="1" sz="15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lt1"/>
                          </a:solidFill>
                          <a:latin typeface="Calibri"/>
                          <a:ea typeface="Calibri"/>
                          <a:cs typeface="Calibri"/>
                          <a:sym typeface="Calibri"/>
                        </a:rPr>
                        <a:t>ROC-AUC</a:t>
                      </a:r>
                      <a:endParaRPr b="1" sz="15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r>
              <a:tr h="365750">
                <a:tc>
                  <a:txBody>
                    <a:bodyPr/>
                    <a:lstStyle/>
                    <a:p>
                      <a:pPr indent="0" lvl="0" marL="0" marR="0" rtl="0" algn="ctr">
                        <a:spcBef>
                          <a:spcPts val="0"/>
                        </a:spcBef>
                        <a:spcAft>
                          <a:spcPts val="0"/>
                        </a:spcAft>
                        <a:buClr>
                          <a:srgbClr val="333333"/>
                        </a:buClr>
                        <a:buSzPts val="1500"/>
                        <a:buFont typeface="Calibri"/>
                        <a:buNone/>
                      </a:pPr>
                      <a:r>
                        <a:rPr lang="en" sz="1500" u="none" cap="none" strike="noStrike">
                          <a:solidFill>
                            <a:schemeClr val="dk1"/>
                          </a:solidFill>
                          <a:latin typeface="Calibri"/>
                          <a:ea typeface="Calibri"/>
                          <a:cs typeface="Calibri"/>
                          <a:sym typeface="Calibri"/>
                        </a:rPr>
                        <a:t>0.767</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500"/>
                        <a:buFont typeface="Calibri"/>
                        <a:buNone/>
                      </a:pPr>
                      <a:r>
                        <a:rPr lang="en" sz="1500" u="none" cap="none" strike="noStrike">
                          <a:solidFill>
                            <a:schemeClr val="dk1"/>
                          </a:solidFill>
                          <a:latin typeface="Calibri"/>
                          <a:ea typeface="Calibri"/>
                          <a:cs typeface="Calibri"/>
                          <a:sym typeface="Calibri"/>
                        </a:rPr>
                        <a:t>0.693</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500"/>
                        <a:buFont typeface="Calibri"/>
                        <a:buNone/>
                      </a:pPr>
                      <a:r>
                        <a:rPr lang="en" sz="1500" u="none" cap="none" strike="noStrike">
                          <a:solidFill>
                            <a:schemeClr val="dk1"/>
                          </a:solidFill>
                          <a:latin typeface="Calibri"/>
                          <a:ea typeface="Calibri"/>
                          <a:cs typeface="Calibri"/>
                          <a:sym typeface="Calibri"/>
                        </a:rPr>
                        <a:t>0.710</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500"/>
                        <a:buFont typeface="Calibri"/>
                        <a:buNone/>
                      </a:pPr>
                      <a:r>
                        <a:rPr lang="en" sz="1500" u="none" cap="none" strike="noStrike">
                          <a:solidFill>
                            <a:schemeClr val="dk1"/>
                          </a:solidFill>
                          <a:latin typeface="Calibri"/>
                          <a:ea typeface="Calibri"/>
                          <a:cs typeface="Calibri"/>
                          <a:sym typeface="Calibri"/>
                        </a:rPr>
                        <a:t>0.680</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dk1"/>
                          </a:solidFill>
                          <a:latin typeface="Calibri"/>
                          <a:ea typeface="Calibri"/>
                          <a:cs typeface="Calibri"/>
                          <a:sym typeface="Calibri"/>
                        </a:rPr>
                        <a:t>0.882</a:t>
                      </a:r>
                      <a:endParaRPr b="1"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bl>
          </a:graphicData>
        </a:graphic>
      </p:graphicFrame>
      <p:sp>
        <p:nvSpPr>
          <p:cNvPr id="112" name="Google Shape;112;p21"/>
          <p:cNvSpPr/>
          <p:nvPr/>
        </p:nvSpPr>
        <p:spPr>
          <a:xfrm>
            <a:off x="1314449" y="1975485"/>
            <a:ext cx="6096001" cy="2025016"/>
          </a:xfrm>
          <a:prstGeom prst="rect">
            <a:avLst/>
          </a:prstGeom>
          <a:noFill/>
          <a:ln>
            <a:noFill/>
          </a:ln>
        </p:spPr>
        <p:txBody>
          <a:bodyPr anchorCtr="0" anchor="ctr" bIns="45700" lIns="91425" spcFirstLastPara="1" rIns="91425" wrap="square" tIns="45700">
            <a:noAutofit/>
          </a:bodyPr>
          <a:lstStyle/>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Fine-tuned for 3 epochs locally on RTX 4080 Super</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Batch size 16, learning rate 2e-5, mixed precision training</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Added three classification head at top for positive, neutral and negative sentiment</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An ROC-AUC of 0.882 indicates strong separation between the three sentiment classes</a:t>
            </a:r>
            <a:endParaRPr sz="15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2"/>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Per Category ModernBERT Performance</a:t>
            </a:r>
            <a:endParaRPr sz="2800">
              <a:solidFill>
                <a:schemeClr val="lt1"/>
              </a:solidFill>
              <a:latin typeface="Calibri"/>
              <a:ea typeface="Calibri"/>
              <a:cs typeface="Calibri"/>
              <a:sym typeface="Calibri"/>
            </a:endParaRPr>
          </a:p>
        </p:txBody>
      </p:sp>
      <p:sp>
        <p:nvSpPr>
          <p:cNvPr id="120" name="Google Shape;120;p22"/>
          <p:cNvSpPr/>
          <p:nvPr/>
        </p:nvSpPr>
        <p:spPr>
          <a:xfrm>
            <a:off x="2103120" y="1188720"/>
            <a:ext cx="4937760" cy="2377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121" name="Google Shape;121;p22"/>
          <p:cNvSpPr/>
          <p:nvPr/>
        </p:nvSpPr>
        <p:spPr>
          <a:xfrm>
            <a:off x="5045725" y="1544450"/>
            <a:ext cx="3889500" cy="278730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Performance is consistent across all five categories, which shows the approach generalizes to different product types</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Amazon Fashion achieved the highest accuracy and Books the lowest</a:t>
            </a:r>
            <a:endParaRPr sz="1400">
              <a:solidFill>
                <a:schemeClr val="dk1"/>
              </a:solidFill>
              <a:latin typeface="Calibri"/>
              <a:ea typeface="Calibri"/>
              <a:cs typeface="Calibri"/>
              <a:sym typeface="Calibri"/>
            </a:endParaRPr>
          </a:p>
        </p:txBody>
      </p:sp>
      <p:pic>
        <p:nvPicPr>
          <p:cNvPr id="122" name="Google Shape;122;p22"/>
          <p:cNvPicPr preferRelativeResize="0"/>
          <p:nvPr/>
        </p:nvPicPr>
        <p:blipFill rotWithShape="1">
          <a:blip r:embed="rId3">
            <a:alphaModFix/>
          </a:blip>
          <a:srcRect b="0" l="0" r="0" t="0"/>
          <a:stretch/>
        </p:blipFill>
        <p:spPr>
          <a:xfrm>
            <a:off x="159726" y="1367825"/>
            <a:ext cx="4767261" cy="31781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3"/>
          <p:cNvSpPr/>
          <p:nvPr/>
        </p:nvSpPr>
        <p:spPr>
          <a:xfrm>
            <a:off x="548640" y="365760"/>
            <a:ext cx="8046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Confusion Matrix</a:t>
            </a:r>
            <a:endParaRPr sz="2800">
              <a:solidFill>
                <a:schemeClr val="lt1"/>
              </a:solidFill>
              <a:latin typeface="Calibri"/>
              <a:ea typeface="Calibri"/>
              <a:cs typeface="Calibri"/>
              <a:sym typeface="Calibri"/>
            </a:endParaRPr>
          </a:p>
        </p:txBody>
      </p:sp>
      <p:sp>
        <p:nvSpPr>
          <p:cNvPr id="130" name="Google Shape;130;p23"/>
          <p:cNvSpPr/>
          <p:nvPr/>
        </p:nvSpPr>
        <p:spPr>
          <a:xfrm>
            <a:off x="4846205" y="1474475"/>
            <a:ext cx="3749100" cy="219450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Most misclassifications are between the neutral and positive classes</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Neutral is the smallest class at 7,000 out of 37,242 pairs</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Neutral is also harder to define, since it covers a wider range of wording than positive or negative</a:t>
            </a:r>
            <a:endParaRPr sz="1400">
              <a:solidFill>
                <a:schemeClr val="dk1"/>
              </a:solidFill>
              <a:latin typeface="Calibri"/>
              <a:ea typeface="Calibri"/>
              <a:cs typeface="Calibri"/>
              <a:sym typeface="Calibri"/>
            </a:endParaRPr>
          </a:p>
        </p:txBody>
      </p:sp>
      <p:pic>
        <p:nvPicPr>
          <p:cNvPr id="131" name="Google Shape;131;p23"/>
          <p:cNvPicPr preferRelativeResize="0"/>
          <p:nvPr/>
        </p:nvPicPr>
        <p:blipFill rotWithShape="1">
          <a:blip r:embed="rId3">
            <a:alphaModFix/>
          </a:blip>
          <a:srcRect b="0" l="0" r="0" t="0"/>
          <a:stretch/>
        </p:blipFill>
        <p:spPr>
          <a:xfrm>
            <a:off x="400961" y="1312690"/>
            <a:ext cx="3952238" cy="29641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24"/>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Training Data Size Comparison</a:t>
            </a:r>
            <a:endParaRPr sz="2800">
              <a:solidFill>
                <a:schemeClr val="lt1"/>
              </a:solidFill>
              <a:latin typeface="Calibri"/>
              <a:ea typeface="Calibri"/>
              <a:cs typeface="Calibri"/>
              <a:sym typeface="Calibri"/>
            </a:endParaRPr>
          </a:p>
        </p:txBody>
      </p:sp>
      <p:graphicFrame>
        <p:nvGraphicFramePr>
          <p:cNvPr id="139" name="Google Shape;139;p24"/>
          <p:cNvGraphicFramePr/>
          <p:nvPr/>
        </p:nvGraphicFramePr>
        <p:xfrm>
          <a:off x="2011680" y="1280160"/>
          <a:ext cx="3000000" cy="3000000"/>
        </p:xfrm>
        <a:graphic>
          <a:graphicData uri="http://schemas.openxmlformats.org/drawingml/2006/table">
            <a:tbl>
              <a:tblPr>
                <a:noFill/>
                <a:tableStyleId>{71FDE0D3-FB4E-4500-9ABB-49998318574A}</a:tableStyleId>
              </a:tblPr>
              <a:tblGrid>
                <a:gridCol w="2011675"/>
                <a:gridCol w="1554475"/>
                <a:gridCol w="1554475"/>
              </a:tblGrid>
              <a:tr h="365750">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lt1"/>
                          </a:solidFill>
                          <a:latin typeface="Calibri"/>
                          <a:ea typeface="Calibri"/>
                          <a:cs typeface="Calibri"/>
                          <a:sym typeface="Calibri"/>
                        </a:rPr>
                        <a:t>Training Examples</a:t>
                      </a:r>
                      <a:endParaRPr b="1" sz="15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lt1"/>
                          </a:solidFill>
                          <a:latin typeface="Calibri"/>
                          <a:ea typeface="Calibri"/>
                          <a:cs typeface="Calibri"/>
                          <a:sym typeface="Calibri"/>
                        </a:rPr>
                        <a:t>Accuracy</a:t>
                      </a:r>
                      <a:endParaRPr b="1" sz="15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lt1"/>
                          </a:solidFill>
                          <a:latin typeface="Calibri"/>
                          <a:ea typeface="Calibri"/>
                          <a:cs typeface="Calibri"/>
                          <a:sym typeface="Calibri"/>
                        </a:rPr>
                        <a:t>F1 Macro</a:t>
                      </a:r>
                      <a:endParaRPr b="1" sz="15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r>
              <a:tr h="365750">
                <a:tc>
                  <a:txBody>
                    <a:bodyPr/>
                    <a:lstStyle/>
                    <a:p>
                      <a:pPr indent="0" lvl="0" marL="0" marR="0" rtl="0" algn="ctr">
                        <a:spcBef>
                          <a:spcPts val="0"/>
                        </a:spcBef>
                        <a:spcAft>
                          <a:spcPts val="0"/>
                        </a:spcAft>
                        <a:buClr>
                          <a:srgbClr val="333333"/>
                        </a:buClr>
                        <a:buSzPts val="1500"/>
                        <a:buFont typeface="Calibri"/>
                        <a:buNone/>
                      </a:pPr>
                      <a:r>
                        <a:rPr lang="en" sz="1500" u="none" cap="none" strike="noStrike">
                          <a:solidFill>
                            <a:schemeClr val="dk1"/>
                          </a:solidFill>
                          <a:latin typeface="Calibri"/>
                          <a:ea typeface="Calibri"/>
                          <a:cs typeface="Calibri"/>
                          <a:sym typeface="Calibri"/>
                        </a:rPr>
                        <a:t>5,000</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500"/>
                        <a:buFont typeface="Calibri"/>
                        <a:buNone/>
                      </a:pPr>
                      <a:r>
                        <a:rPr lang="en" sz="1500" u="none" cap="none" strike="noStrike">
                          <a:solidFill>
                            <a:schemeClr val="dk1"/>
                          </a:solidFill>
                          <a:latin typeface="Calibri"/>
                          <a:ea typeface="Calibri"/>
                          <a:cs typeface="Calibri"/>
                          <a:sym typeface="Calibri"/>
                        </a:rPr>
                        <a:t>0.689</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500"/>
                        <a:buFont typeface="Calibri"/>
                        <a:buNone/>
                      </a:pPr>
                      <a:r>
                        <a:rPr lang="en" sz="1500" u="none" cap="none" strike="noStrike">
                          <a:solidFill>
                            <a:schemeClr val="dk1"/>
                          </a:solidFill>
                          <a:latin typeface="Calibri"/>
                          <a:ea typeface="Calibri"/>
                          <a:cs typeface="Calibri"/>
                          <a:sym typeface="Calibri"/>
                        </a:rPr>
                        <a:t>0.560</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365750">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dk1"/>
                          </a:solidFill>
                          <a:latin typeface="Calibri"/>
                          <a:ea typeface="Calibri"/>
                          <a:cs typeface="Calibri"/>
                          <a:sym typeface="Calibri"/>
                        </a:rPr>
                        <a:t>29,793</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dk1"/>
                          </a:solidFill>
                          <a:latin typeface="Calibri"/>
                          <a:ea typeface="Calibri"/>
                          <a:cs typeface="Calibri"/>
                          <a:sym typeface="Calibri"/>
                        </a:rPr>
                        <a:t>0.767</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500"/>
                        <a:buFont typeface="Calibri"/>
                        <a:buNone/>
                      </a:pPr>
                      <a:r>
                        <a:rPr b="1" lang="en" sz="1500" u="none" cap="none" strike="noStrike">
                          <a:solidFill>
                            <a:schemeClr val="dk1"/>
                          </a:solidFill>
                          <a:latin typeface="Calibri"/>
                          <a:ea typeface="Calibri"/>
                          <a:cs typeface="Calibri"/>
                          <a:sym typeface="Calibri"/>
                        </a:rPr>
                        <a:t>0.693</a:t>
                      </a:r>
                      <a:endParaRPr sz="15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bl>
          </a:graphicData>
        </a:graphic>
      </p:graphicFrame>
      <p:sp>
        <p:nvSpPr>
          <p:cNvPr id="140" name="Google Shape;140;p24"/>
          <p:cNvSpPr/>
          <p:nvPr/>
        </p:nvSpPr>
        <p:spPr>
          <a:xfrm>
            <a:off x="1794750" y="2616751"/>
            <a:ext cx="5702400" cy="2373600"/>
          </a:xfrm>
          <a:prstGeom prst="rect">
            <a:avLst/>
          </a:prstGeom>
          <a:noFill/>
          <a:ln>
            <a:noFill/>
          </a:ln>
        </p:spPr>
        <p:txBody>
          <a:bodyPr anchorCtr="0" anchor="ctr" bIns="45700" lIns="91425" spcFirstLastPara="1" rIns="91425" wrap="square" tIns="45700">
            <a:noAutofit/>
          </a:bodyPr>
          <a:lstStyle/>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A second model was trained on 5000 examples using identical hyperparameters</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Reducing the training set to 17 percent of its original size lowered accuracy by approximately 8 points and F1 Macro by 0.13</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This shows the full training set made a real difference to model performance</a:t>
            </a:r>
            <a:endParaRPr sz="15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5"/>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Baseline Models Comparison</a:t>
            </a:r>
            <a:endParaRPr sz="2800">
              <a:solidFill>
                <a:schemeClr val="lt1"/>
              </a:solidFill>
              <a:latin typeface="Calibri"/>
              <a:ea typeface="Calibri"/>
              <a:cs typeface="Calibri"/>
              <a:sym typeface="Calibri"/>
            </a:endParaRPr>
          </a:p>
        </p:txBody>
      </p:sp>
      <p:graphicFrame>
        <p:nvGraphicFramePr>
          <p:cNvPr id="148" name="Google Shape;148;p25"/>
          <p:cNvGraphicFramePr/>
          <p:nvPr/>
        </p:nvGraphicFramePr>
        <p:xfrm>
          <a:off x="1097280" y="1188720"/>
          <a:ext cx="3000000" cy="3000000"/>
        </p:xfrm>
        <a:graphic>
          <a:graphicData uri="http://schemas.openxmlformats.org/drawingml/2006/table">
            <a:tbl>
              <a:tblPr>
                <a:noFill/>
                <a:tableStyleId>{71FDE0D3-FB4E-4500-9ABB-49998318574A}</a:tableStyleId>
              </a:tblPr>
              <a:tblGrid>
                <a:gridCol w="2560325"/>
                <a:gridCol w="1463050"/>
                <a:gridCol w="1463050"/>
                <a:gridCol w="1463050"/>
              </a:tblGrid>
              <a:tr h="292600">
                <a:tc>
                  <a:txBody>
                    <a:bodyPr/>
                    <a:lstStyle/>
                    <a:p>
                      <a:pPr indent="0" lvl="0" marL="0" marR="0" rtl="0" algn="ctr">
                        <a:spcBef>
                          <a:spcPts val="0"/>
                        </a:spcBef>
                        <a:spcAft>
                          <a:spcPts val="0"/>
                        </a:spcAft>
                        <a:buClr>
                          <a:srgbClr val="333333"/>
                        </a:buClr>
                        <a:buSzPts val="1300"/>
                        <a:buFont typeface="Calibri"/>
                        <a:buNone/>
                      </a:pPr>
                      <a:r>
                        <a:rPr b="1" lang="en" sz="1300" cap="none" strike="noStrike">
                          <a:solidFill>
                            <a:schemeClr val="lt1"/>
                          </a:solidFill>
                          <a:latin typeface="Calibri"/>
                          <a:ea typeface="Calibri"/>
                          <a:cs typeface="Calibri"/>
                          <a:sym typeface="Calibri"/>
                        </a:rPr>
                        <a:t>Model</a:t>
                      </a:r>
                      <a:endParaRPr b="1" sz="1300"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300"/>
                        <a:buFont typeface="Calibri"/>
                        <a:buNone/>
                      </a:pPr>
                      <a:r>
                        <a:rPr b="1" lang="en" sz="1300" cap="none" strike="noStrike">
                          <a:solidFill>
                            <a:schemeClr val="lt1"/>
                          </a:solidFill>
                          <a:latin typeface="Calibri"/>
                          <a:ea typeface="Calibri"/>
                          <a:cs typeface="Calibri"/>
                          <a:sym typeface="Calibri"/>
                        </a:rPr>
                        <a:t>Accuracy</a:t>
                      </a:r>
                      <a:endParaRPr b="1" sz="1300"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300"/>
                        <a:buFont typeface="Calibri"/>
                        <a:buNone/>
                      </a:pPr>
                      <a:r>
                        <a:rPr b="1" lang="en" sz="1300" cap="none" strike="noStrike">
                          <a:solidFill>
                            <a:schemeClr val="lt1"/>
                          </a:solidFill>
                          <a:latin typeface="Calibri"/>
                          <a:ea typeface="Calibri"/>
                          <a:cs typeface="Calibri"/>
                          <a:sym typeface="Calibri"/>
                        </a:rPr>
                        <a:t>F1 Macro</a:t>
                      </a:r>
                      <a:endParaRPr b="1" sz="1300"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300"/>
                        <a:buFont typeface="Calibri"/>
                        <a:buNone/>
                      </a:pPr>
                      <a:r>
                        <a:rPr b="1" lang="en" sz="1300" cap="none" strike="noStrike">
                          <a:solidFill>
                            <a:schemeClr val="lt1"/>
                          </a:solidFill>
                          <a:latin typeface="Calibri"/>
                          <a:ea typeface="Calibri"/>
                          <a:cs typeface="Calibri"/>
                          <a:sym typeface="Calibri"/>
                        </a:rPr>
                        <a:t>ROC-AUC</a:t>
                      </a:r>
                      <a:endParaRPr b="1" sz="1300"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r>
              <a:tr h="292600">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dk1"/>
                          </a:solidFill>
                          <a:latin typeface="Calibri"/>
                          <a:ea typeface="Calibri"/>
                          <a:cs typeface="Calibri"/>
                          <a:sym typeface="Calibri"/>
                        </a:rPr>
                        <a:t>ModernBERT</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dk1"/>
                          </a:solidFill>
                          <a:latin typeface="Calibri"/>
                          <a:ea typeface="Calibri"/>
                          <a:cs typeface="Calibri"/>
                          <a:sym typeface="Calibri"/>
                        </a:rPr>
                        <a:t>0.767</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dk1"/>
                          </a:solidFill>
                          <a:latin typeface="Calibri"/>
                          <a:ea typeface="Calibri"/>
                          <a:cs typeface="Calibri"/>
                          <a:sym typeface="Calibri"/>
                        </a:rPr>
                        <a:t>0.693</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dk1"/>
                          </a:solidFill>
                          <a:latin typeface="Calibri"/>
                          <a:ea typeface="Calibri"/>
                          <a:cs typeface="Calibri"/>
                          <a:sym typeface="Calibri"/>
                        </a:rPr>
                        <a:t>0.882</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Logistic Regression</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0.643</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0.456</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0.705</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SVM</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0.635</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0.407</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0.690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Random Forest</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0.550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0.443</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0.640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Stacking Ensemble</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0.647</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0.435</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0.717</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bl>
          </a:graphicData>
        </a:graphic>
      </p:graphicFrame>
      <p:sp>
        <p:nvSpPr>
          <p:cNvPr id="149" name="Google Shape;149;p25"/>
          <p:cNvSpPr/>
          <p:nvPr/>
        </p:nvSpPr>
        <p:spPr>
          <a:xfrm>
            <a:off x="1097275" y="2985500"/>
            <a:ext cx="6980700" cy="211530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Stacking achieved the highest accuracy among the traditional models, though Logistic Regression scored highest on F1 Macro</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Fine-tuned ModernBERT beats all traditional baselines, and the gap is largest on F1 Macro</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traditional models achieve accuracy largely by favoring the majority positive class, a weakness that F1 Macro makes visible</a:t>
            </a:r>
            <a:endParaRPr sz="14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6"/>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Direct Llama 3 8B Comparison</a:t>
            </a:r>
            <a:endParaRPr sz="2800">
              <a:solidFill>
                <a:schemeClr val="lt1"/>
              </a:solidFill>
              <a:latin typeface="Calibri"/>
              <a:ea typeface="Calibri"/>
              <a:cs typeface="Calibri"/>
              <a:sym typeface="Calibri"/>
            </a:endParaRPr>
          </a:p>
        </p:txBody>
      </p:sp>
      <p:graphicFrame>
        <p:nvGraphicFramePr>
          <p:cNvPr id="157" name="Google Shape;157;p26"/>
          <p:cNvGraphicFramePr/>
          <p:nvPr/>
        </p:nvGraphicFramePr>
        <p:xfrm>
          <a:off x="1280160" y="1188720"/>
          <a:ext cx="3000000" cy="3000000"/>
        </p:xfrm>
        <a:graphic>
          <a:graphicData uri="http://schemas.openxmlformats.org/drawingml/2006/table">
            <a:tbl>
              <a:tblPr>
                <a:noFill/>
                <a:tableStyleId>{71FDE0D3-FB4E-4500-9ABB-49998318574A}</a:tableStyleId>
              </a:tblPr>
              <a:tblGrid>
                <a:gridCol w="2377450"/>
                <a:gridCol w="1463050"/>
                <a:gridCol w="1371600"/>
                <a:gridCol w="1371600"/>
              </a:tblGrid>
              <a:tr h="329175">
                <a:tc>
                  <a:txBody>
                    <a:bodyPr/>
                    <a:lstStyle/>
                    <a:p>
                      <a:pPr indent="0" lvl="0" marL="0" marR="0" rtl="0" algn="ctr">
                        <a:spcBef>
                          <a:spcPts val="0"/>
                        </a:spcBef>
                        <a:spcAft>
                          <a:spcPts val="0"/>
                        </a:spcAft>
                        <a:buClr>
                          <a:srgbClr val="333333"/>
                        </a:buClr>
                        <a:buSzPts val="1400"/>
                        <a:buFont typeface="Calibri"/>
                        <a:buNone/>
                      </a:pPr>
                      <a:r>
                        <a:rPr b="1" lang="en" sz="1400" u="none" cap="none" strike="noStrike">
                          <a:solidFill>
                            <a:schemeClr val="lt1"/>
                          </a:solidFill>
                          <a:latin typeface="Calibri"/>
                          <a:ea typeface="Calibri"/>
                          <a:cs typeface="Calibri"/>
                          <a:sym typeface="Calibri"/>
                        </a:rPr>
                        <a:t>Model</a:t>
                      </a:r>
                      <a:endParaRPr b="1" sz="14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400"/>
                        <a:buFont typeface="Calibri"/>
                        <a:buNone/>
                      </a:pPr>
                      <a:r>
                        <a:rPr b="1" lang="en" sz="1400" u="none" cap="none" strike="noStrike">
                          <a:solidFill>
                            <a:schemeClr val="lt1"/>
                          </a:solidFill>
                          <a:latin typeface="Calibri"/>
                          <a:ea typeface="Calibri"/>
                          <a:cs typeface="Calibri"/>
                          <a:sym typeface="Calibri"/>
                        </a:rPr>
                        <a:t>Accuracy</a:t>
                      </a:r>
                      <a:endParaRPr b="1" sz="14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400"/>
                        <a:buFont typeface="Calibri"/>
                        <a:buNone/>
                      </a:pPr>
                      <a:r>
                        <a:rPr b="1" lang="en" sz="1400" u="none" cap="none" strike="noStrike">
                          <a:solidFill>
                            <a:schemeClr val="lt1"/>
                          </a:solidFill>
                          <a:latin typeface="Calibri"/>
                          <a:ea typeface="Calibri"/>
                          <a:cs typeface="Calibri"/>
                          <a:sym typeface="Calibri"/>
                        </a:rPr>
                        <a:t>F1 Macro</a:t>
                      </a:r>
                      <a:endParaRPr b="1" sz="14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400"/>
                        <a:buFont typeface="Calibri"/>
                        <a:buNone/>
                      </a:pPr>
                      <a:r>
                        <a:rPr b="1" lang="en" sz="1400" u="none" cap="none" strike="noStrike">
                          <a:solidFill>
                            <a:schemeClr val="lt1"/>
                          </a:solidFill>
                          <a:latin typeface="Calibri"/>
                          <a:ea typeface="Calibri"/>
                          <a:cs typeface="Calibri"/>
                          <a:sym typeface="Calibri"/>
                        </a:rPr>
                        <a:t>Reviews/sec</a:t>
                      </a:r>
                      <a:endParaRPr b="1" sz="14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r>
              <a:tr h="329175">
                <a:tc>
                  <a:txBody>
                    <a:bodyPr/>
                    <a:lstStyle/>
                    <a:p>
                      <a:pPr indent="0" lvl="0" marL="0" marR="0" rtl="0" algn="ctr">
                        <a:spcBef>
                          <a:spcPts val="0"/>
                        </a:spcBef>
                        <a:spcAft>
                          <a:spcPts val="0"/>
                        </a:spcAft>
                        <a:buClr>
                          <a:srgbClr val="333333"/>
                        </a:buClr>
                        <a:buSzPts val="1400"/>
                        <a:buFont typeface="Calibri"/>
                        <a:buNone/>
                      </a:pPr>
                      <a:r>
                        <a:rPr b="1" lang="en" sz="1400" u="none" cap="none" strike="noStrike">
                          <a:solidFill>
                            <a:schemeClr val="dk1"/>
                          </a:solidFill>
                          <a:latin typeface="Calibri"/>
                          <a:ea typeface="Calibri"/>
                          <a:cs typeface="Calibri"/>
                          <a:sym typeface="Calibri"/>
                        </a:rPr>
                        <a:t>ModernBERT</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400"/>
                        <a:buFont typeface="Calibri"/>
                        <a:buNone/>
                      </a:pPr>
                      <a:r>
                        <a:rPr b="1" lang="en" sz="1400" u="none" cap="none" strike="noStrike">
                          <a:solidFill>
                            <a:schemeClr val="dk1"/>
                          </a:solidFill>
                          <a:latin typeface="Calibri"/>
                          <a:ea typeface="Calibri"/>
                          <a:cs typeface="Calibri"/>
                          <a:sym typeface="Calibri"/>
                        </a:rPr>
                        <a:t>0.767</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400"/>
                        <a:buFont typeface="Calibri"/>
                        <a:buNone/>
                      </a:pPr>
                      <a:r>
                        <a:rPr b="1" lang="en" sz="1400" u="none" cap="none" strike="noStrike">
                          <a:solidFill>
                            <a:schemeClr val="dk1"/>
                          </a:solidFill>
                          <a:latin typeface="Calibri"/>
                          <a:ea typeface="Calibri"/>
                          <a:cs typeface="Calibri"/>
                          <a:sym typeface="Calibri"/>
                        </a:rPr>
                        <a:t>0.693</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400"/>
                        <a:buFont typeface="Calibri"/>
                        <a:buNone/>
                      </a:pPr>
                      <a:r>
                        <a:rPr b="1" lang="en" sz="1400" u="none" cap="none" strike="noStrike">
                          <a:solidFill>
                            <a:schemeClr val="dk1"/>
                          </a:solidFill>
                          <a:latin typeface="Calibri"/>
                          <a:ea typeface="Calibri"/>
                          <a:cs typeface="Calibri"/>
                          <a:sym typeface="Calibri"/>
                        </a:rPr>
                        <a:t>249</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329175">
                <a:tc>
                  <a:txBody>
                    <a:bodyPr/>
                    <a:lstStyle/>
                    <a:p>
                      <a:pPr indent="0" lvl="0" marL="0" marR="0" rtl="0" algn="ctr">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Direct Llama 3 8B</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0.978</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0.973</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0.82</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bl>
          </a:graphicData>
        </a:graphic>
      </p:graphicFrame>
      <p:sp>
        <p:nvSpPr>
          <p:cNvPr id="158" name="Google Shape;158;p26"/>
          <p:cNvSpPr/>
          <p:nvPr/>
        </p:nvSpPr>
        <p:spPr>
          <a:xfrm>
            <a:off x="1280200" y="2588700"/>
            <a:ext cx="6583800" cy="189930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test labels were generated by Llama 3 8B, so this result reflects self-consistency rather than independent accuracy</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It should therefore be interpreted as an upper bound on this evaluation rather than a competing baseline</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ModernBERT processes reviews around 300 times faster, which is what matters when running at scale</a:t>
            </a:r>
            <a:endParaRPr sz="1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7"/>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Overall Training Time</a:t>
            </a:r>
            <a:endParaRPr sz="2800">
              <a:solidFill>
                <a:schemeClr val="lt1"/>
              </a:solidFill>
              <a:latin typeface="Calibri"/>
              <a:ea typeface="Calibri"/>
              <a:cs typeface="Calibri"/>
              <a:sym typeface="Calibri"/>
            </a:endParaRPr>
          </a:p>
        </p:txBody>
      </p:sp>
      <p:graphicFrame>
        <p:nvGraphicFramePr>
          <p:cNvPr id="166" name="Google Shape;166;p27"/>
          <p:cNvGraphicFramePr/>
          <p:nvPr/>
        </p:nvGraphicFramePr>
        <p:xfrm>
          <a:off x="1645920" y="1188720"/>
          <a:ext cx="3000000" cy="3000000"/>
        </p:xfrm>
        <a:graphic>
          <a:graphicData uri="http://schemas.openxmlformats.org/drawingml/2006/table">
            <a:tbl>
              <a:tblPr>
                <a:noFill/>
                <a:tableStyleId>{71FDE0D3-FB4E-4500-9ABB-49998318574A}</a:tableStyleId>
              </a:tblPr>
              <a:tblGrid>
                <a:gridCol w="4023350"/>
                <a:gridCol w="1828800"/>
              </a:tblGrid>
              <a:tr h="329175">
                <a:tc>
                  <a:txBody>
                    <a:bodyPr/>
                    <a:lstStyle/>
                    <a:p>
                      <a:pPr indent="0" lvl="0" marL="0" marR="0" rtl="0" algn="l">
                        <a:spcBef>
                          <a:spcPts val="0"/>
                        </a:spcBef>
                        <a:spcAft>
                          <a:spcPts val="0"/>
                        </a:spcAft>
                        <a:buClr>
                          <a:srgbClr val="333333"/>
                        </a:buClr>
                        <a:buSzPts val="1400"/>
                        <a:buFont typeface="Calibri"/>
                        <a:buNone/>
                      </a:pPr>
                      <a:r>
                        <a:rPr b="1" lang="en" sz="1400" u="none" cap="none" strike="noStrike">
                          <a:solidFill>
                            <a:schemeClr val="lt1"/>
                          </a:solidFill>
                          <a:latin typeface="Calibri"/>
                          <a:ea typeface="Calibri"/>
                          <a:cs typeface="Calibri"/>
                          <a:sym typeface="Calibri"/>
                        </a:rPr>
                        <a:t>Stage</a:t>
                      </a:r>
                      <a:endParaRPr b="1" sz="14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l">
                        <a:spcBef>
                          <a:spcPts val="0"/>
                        </a:spcBef>
                        <a:spcAft>
                          <a:spcPts val="0"/>
                        </a:spcAft>
                        <a:buClr>
                          <a:srgbClr val="333333"/>
                        </a:buClr>
                        <a:buSzPts val="1400"/>
                        <a:buFont typeface="Calibri"/>
                        <a:buNone/>
                      </a:pPr>
                      <a:r>
                        <a:rPr b="1" lang="en" sz="1400" u="none" cap="none" strike="noStrike">
                          <a:solidFill>
                            <a:schemeClr val="lt1"/>
                          </a:solidFill>
                          <a:latin typeface="Calibri"/>
                          <a:ea typeface="Calibri"/>
                          <a:cs typeface="Calibri"/>
                          <a:sym typeface="Calibri"/>
                        </a:rPr>
                        <a:t>Time</a:t>
                      </a:r>
                      <a:endParaRPr b="1" sz="14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r>
              <a:tr h="329175">
                <a:tc>
                  <a:txBody>
                    <a:bodyPr/>
                    <a:lstStyle/>
                    <a:p>
                      <a:pPr indent="0" lvl="0" marL="0" marR="0" rtl="0" algn="l">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Silver label generation (10,000 reviews)</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94.5 min</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329175">
                <a:tc>
                  <a:txBody>
                    <a:bodyPr/>
                    <a:lstStyle/>
                    <a:p>
                      <a:pPr indent="0" lvl="0" marL="0" marR="0" rtl="0" algn="l">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ModernBERT fine-tuning (3 epochs)</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10.4 min</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329175">
                <a:tc>
                  <a:txBody>
                    <a:bodyPr/>
                    <a:lstStyle/>
                    <a:p>
                      <a:pPr indent="0" lvl="0" marL="0" marR="0" rtl="0" algn="l">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All four baselines combined</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2.1 min</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329175">
                <a:tc>
                  <a:txBody>
                    <a:bodyPr/>
                    <a:lstStyle/>
                    <a:p>
                      <a:pPr indent="0" lvl="0" marL="0" marR="0" rtl="0" algn="l">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Direct Llama inference (500 reviews)</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l">
                        <a:spcBef>
                          <a:spcPts val="0"/>
                        </a:spcBef>
                        <a:spcAft>
                          <a:spcPts val="0"/>
                        </a:spcAft>
                        <a:buClr>
                          <a:srgbClr val="333333"/>
                        </a:buClr>
                        <a:buSzPts val="1400"/>
                        <a:buFont typeface="Calibri"/>
                        <a:buNone/>
                      </a:pPr>
                      <a:r>
                        <a:rPr lang="en" sz="1400" u="none" cap="none" strike="noStrike">
                          <a:solidFill>
                            <a:schemeClr val="dk1"/>
                          </a:solidFill>
                          <a:latin typeface="Calibri"/>
                          <a:ea typeface="Calibri"/>
                          <a:cs typeface="Calibri"/>
                          <a:sym typeface="Calibri"/>
                        </a:rPr>
                        <a:t>10.1 min</a:t>
                      </a:r>
                      <a:endParaRPr sz="14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bl>
          </a:graphicData>
        </a:graphic>
      </p:graphicFrame>
      <p:sp>
        <p:nvSpPr>
          <p:cNvPr id="167" name="Google Shape;167;p27"/>
          <p:cNvSpPr/>
          <p:nvPr/>
        </p:nvSpPr>
        <p:spPr>
          <a:xfrm>
            <a:off x="1645925" y="2901325"/>
            <a:ext cx="5852100" cy="185370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Silver label generation took the longest at about 95 minutes using 8 parallel workers</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ModernBERT training took about 3 minutes per epoch</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Labeling one review at a time would have taken around 8 hours instead of 95 minutes</a:t>
            </a:r>
            <a:endParaRPr sz="1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8"/>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Aspect Rankings by Category</a:t>
            </a:r>
            <a:endParaRPr sz="2800">
              <a:solidFill>
                <a:schemeClr val="lt1"/>
              </a:solidFill>
              <a:latin typeface="Calibri"/>
              <a:ea typeface="Calibri"/>
              <a:cs typeface="Calibri"/>
              <a:sym typeface="Calibri"/>
            </a:endParaRPr>
          </a:p>
        </p:txBody>
      </p:sp>
      <p:graphicFrame>
        <p:nvGraphicFramePr>
          <p:cNvPr id="175" name="Google Shape;175;p28"/>
          <p:cNvGraphicFramePr/>
          <p:nvPr/>
        </p:nvGraphicFramePr>
        <p:xfrm>
          <a:off x="1463040" y="1188720"/>
          <a:ext cx="3000000" cy="3000000"/>
        </p:xfrm>
        <a:graphic>
          <a:graphicData uri="http://schemas.openxmlformats.org/drawingml/2006/table">
            <a:tbl>
              <a:tblPr>
                <a:noFill/>
                <a:tableStyleId>{71FDE0D3-FB4E-4500-9ABB-49998318574A}</a:tableStyleId>
              </a:tblPr>
              <a:tblGrid>
                <a:gridCol w="2377450"/>
                <a:gridCol w="2011675"/>
                <a:gridCol w="1828800"/>
              </a:tblGrid>
              <a:tr h="292600">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lt1"/>
                          </a:solidFill>
                          <a:latin typeface="Calibri"/>
                          <a:ea typeface="Calibri"/>
                          <a:cs typeface="Calibri"/>
                          <a:sym typeface="Calibri"/>
                        </a:rPr>
                        <a:t>Category</a:t>
                      </a:r>
                      <a:endParaRPr b="1" sz="13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lt1"/>
                          </a:solidFill>
                          <a:latin typeface="Calibri"/>
                          <a:ea typeface="Calibri"/>
                          <a:cs typeface="Calibri"/>
                          <a:sym typeface="Calibri"/>
                        </a:rPr>
                        <a:t>Aspect</a:t>
                      </a:r>
                      <a:endParaRPr b="1" sz="13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c>
                  <a:txBody>
                    <a:bodyPr/>
                    <a:lstStyle/>
                    <a:p>
                      <a:pPr indent="0" lvl="0" marL="0" marR="0" rtl="0" algn="ctr">
                        <a:spcBef>
                          <a:spcPts val="0"/>
                        </a:spcBef>
                        <a:spcAft>
                          <a:spcPts val="0"/>
                        </a:spcAft>
                        <a:buClr>
                          <a:srgbClr val="333333"/>
                        </a:buClr>
                        <a:buSzPts val="1300"/>
                        <a:buFont typeface="Calibri"/>
                        <a:buNone/>
                      </a:pPr>
                      <a:r>
                        <a:rPr b="1" lang="en" sz="1300" u="none" cap="none" strike="noStrike">
                          <a:solidFill>
                            <a:schemeClr val="lt1"/>
                          </a:solidFill>
                          <a:latin typeface="Calibri"/>
                          <a:ea typeface="Calibri"/>
                          <a:cs typeface="Calibri"/>
                          <a:sym typeface="Calibri"/>
                        </a:rPr>
                        <a:t>Score</a:t>
                      </a:r>
                      <a:endParaRPr b="1" sz="1300" u="none" cap="none" strike="noStrike">
                        <a:solidFill>
                          <a:schemeClr val="lt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solidFill>
                      <a:srgbClr val="1B3A5C"/>
                    </a:solidFill>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Electronics</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value</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+0.92</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Electronics</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instructions</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-0.60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Amazon Fashion</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cute design</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+1.00</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Amazon Fashion</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sizing</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-0.45</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Books</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humor</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+0.91</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r h="292600">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Books</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pacing</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c>
                  <a:txBody>
                    <a:bodyPr/>
                    <a:lstStyle/>
                    <a:p>
                      <a:pPr indent="0" lvl="0" marL="0" marR="0" rtl="0" algn="ctr">
                        <a:spcBef>
                          <a:spcPts val="0"/>
                        </a:spcBef>
                        <a:spcAft>
                          <a:spcPts val="0"/>
                        </a:spcAft>
                        <a:buClr>
                          <a:srgbClr val="333333"/>
                        </a:buClr>
                        <a:buSzPts val="1300"/>
                        <a:buFont typeface="Calibri"/>
                        <a:buNone/>
                      </a:pPr>
                      <a:r>
                        <a:rPr lang="en" sz="1300" u="none" cap="none" strike="noStrike">
                          <a:solidFill>
                            <a:schemeClr val="dk1"/>
                          </a:solidFill>
                          <a:latin typeface="Calibri"/>
                          <a:ea typeface="Calibri"/>
                          <a:cs typeface="Calibri"/>
                          <a:sym typeface="Calibri"/>
                        </a:rPr>
                        <a:t>-0.23</a:t>
                      </a:r>
                      <a:endParaRPr sz="1300" u="none" cap="none" strike="noStrike">
                        <a:solidFill>
                          <a:schemeClr val="dk1"/>
                        </a:solidFill>
                        <a:latin typeface="Calibri"/>
                        <a:ea typeface="Calibri"/>
                        <a:cs typeface="Calibri"/>
                        <a:sym typeface="Calibri"/>
                      </a:endParaRPr>
                    </a:p>
                  </a:txBody>
                  <a:tcPr marT="45725" marB="45725" marR="91450" marL="91450">
                    <a:lnL cap="flat" cmpd="sng" w="9525">
                      <a:solidFill>
                        <a:srgbClr val="AAAAAA"/>
                      </a:solidFill>
                      <a:prstDash val="solid"/>
                      <a:round/>
                      <a:headEnd len="sm" w="sm" type="none"/>
                      <a:tailEnd len="sm" w="sm" type="none"/>
                    </a:lnL>
                    <a:lnR cap="flat" cmpd="sng" w="9525">
                      <a:solidFill>
                        <a:srgbClr val="AAAAAA"/>
                      </a:solidFill>
                      <a:prstDash val="solid"/>
                      <a:round/>
                      <a:headEnd len="sm" w="sm" type="none"/>
                      <a:tailEnd len="sm" w="sm" type="none"/>
                    </a:lnR>
                    <a:lnT cap="flat" cmpd="sng" w="9525">
                      <a:solidFill>
                        <a:srgbClr val="AAAAAA"/>
                      </a:solidFill>
                      <a:prstDash val="solid"/>
                      <a:round/>
                      <a:headEnd len="sm" w="sm" type="none"/>
                      <a:tailEnd len="sm" w="sm" type="none"/>
                    </a:lnT>
                    <a:lnB cap="flat" cmpd="sng" w="9525">
                      <a:solidFill>
                        <a:srgbClr val="AAAAAA"/>
                      </a:solidFill>
                      <a:prstDash val="solid"/>
                      <a:round/>
                      <a:headEnd len="sm" w="sm" type="none"/>
                      <a:tailEnd len="sm" w="sm" type="none"/>
                    </a:lnB>
                  </a:tcPr>
                </a:tc>
              </a:tr>
            </a:tbl>
          </a:graphicData>
        </a:graphic>
      </p:graphicFrame>
      <p:sp>
        <p:nvSpPr>
          <p:cNvPr id="176" name="Google Shape;176;p28"/>
          <p:cNvSpPr/>
          <p:nvPr/>
        </p:nvSpPr>
        <p:spPr>
          <a:xfrm>
            <a:off x="1463040" y="3295651"/>
            <a:ext cx="5874067" cy="1582102"/>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Each aspect is scored as the share of positive mentions minus the share of negative mentions</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Only aspects mentioned at least 20 times are included</a:t>
            </a:r>
            <a:endParaRPr sz="1400">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This is the output a seller would use directly to decide what to improve</a:t>
            </a:r>
            <a:endParaRPr sz="14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9"/>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Temporal Trend Analysis</a:t>
            </a:r>
            <a:endParaRPr sz="2800">
              <a:solidFill>
                <a:schemeClr val="lt1"/>
              </a:solidFill>
              <a:latin typeface="Calibri"/>
              <a:ea typeface="Calibri"/>
              <a:cs typeface="Calibri"/>
              <a:sym typeface="Calibri"/>
            </a:endParaRPr>
          </a:p>
        </p:txBody>
      </p:sp>
      <p:sp>
        <p:nvSpPr>
          <p:cNvPr id="184" name="Google Shape;184;p29"/>
          <p:cNvSpPr/>
          <p:nvPr/>
        </p:nvSpPr>
        <p:spPr>
          <a:xfrm>
            <a:off x="4756825" y="1010460"/>
            <a:ext cx="4158575" cy="312258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No category shows a real trend, sentiment stays stable across the period</a:t>
            </a:r>
            <a:endParaRPr>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Early years vary more because fewer reviews fall in those years</a:t>
            </a:r>
            <a:endParaRPr>
              <a:solidFill>
                <a:schemeClr val="dk1"/>
              </a:solidFill>
              <a:latin typeface="Calibri"/>
              <a:ea typeface="Calibri"/>
              <a:cs typeface="Calibri"/>
              <a:sym typeface="Calibri"/>
            </a:endParaRPr>
          </a:p>
        </p:txBody>
      </p:sp>
      <p:pic>
        <p:nvPicPr>
          <p:cNvPr id="185" name="Google Shape;185;p29"/>
          <p:cNvPicPr preferRelativeResize="0"/>
          <p:nvPr/>
        </p:nvPicPr>
        <p:blipFill rotWithShape="1">
          <a:blip r:embed="rId3">
            <a:alphaModFix/>
          </a:blip>
          <a:srcRect b="0" l="0" r="0" t="0"/>
          <a:stretch/>
        </p:blipFill>
        <p:spPr>
          <a:xfrm>
            <a:off x="275636" y="1207040"/>
            <a:ext cx="4395822" cy="329686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30"/>
          <p:cNvSpPr/>
          <p:nvPr/>
        </p:nvSpPr>
        <p:spPr>
          <a:xfrm>
            <a:off x="548640" y="365760"/>
            <a:ext cx="8046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Challenges</a:t>
            </a:r>
            <a:endParaRPr sz="2800">
              <a:solidFill>
                <a:schemeClr val="lt1"/>
              </a:solidFill>
              <a:latin typeface="Calibri"/>
              <a:ea typeface="Calibri"/>
              <a:cs typeface="Calibri"/>
              <a:sym typeface="Calibri"/>
            </a:endParaRPr>
          </a:p>
        </p:txBody>
      </p:sp>
      <p:sp>
        <p:nvSpPr>
          <p:cNvPr id="192" name="Google Shape;192;p30"/>
          <p:cNvSpPr/>
          <p:nvPr/>
        </p:nvSpPr>
        <p:spPr>
          <a:xfrm>
            <a:off x="548650" y="1066383"/>
            <a:ext cx="6530400" cy="3173100"/>
          </a:xfrm>
          <a:prstGeom prst="rect">
            <a:avLst/>
          </a:prstGeom>
          <a:noFill/>
          <a:ln>
            <a:noFill/>
          </a:ln>
        </p:spPr>
        <p:txBody>
          <a:bodyPr anchorCtr="0" anchor="ctr" bIns="45700" lIns="91425" spcFirstLastPara="1" rIns="91425" wrap="square" tIns="45700">
            <a:noAutofit/>
          </a:bodyPr>
          <a:lstStyle/>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Groq API free tier could not handle 10,000 reviews, so Llama 3 8B was moved to run locally through Ollama</a:t>
            </a:r>
            <a:endParaRPr>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Llama sometimes returned sentiments outside the three classes, such as "mixed", which needed a cleaning step</a:t>
            </a:r>
            <a:endParaRPr>
              <a:solidFill>
                <a:schemeClr val="dk1"/>
              </a:solidFill>
              <a:latin typeface="Calibri"/>
              <a:ea typeface="Calibri"/>
              <a:cs typeface="Calibri"/>
              <a:sym typeface="Calibri"/>
            </a:endParaRPr>
          </a:p>
          <a:p>
            <a:pPr indent="-317500" lvl="0" marL="457200" marR="0" rtl="0" algn="l">
              <a:lnSpc>
                <a:spcPct val="15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Direct Llama scored 97.8%, but the test labels came from Llama itself, so the comparison was circular</a:t>
            </a:r>
            <a:endParaRPr>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31"/>
          <p:cNvSpPr/>
          <p:nvPr/>
        </p:nvSpPr>
        <p:spPr>
          <a:xfrm>
            <a:off x="548640" y="365760"/>
            <a:ext cx="8046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Limitations</a:t>
            </a:r>
            <a:endParaRPr sz="2800">
              <a:solidFill>
                <a:schemeClr val="lt1"/>
              </a:solidFill>
              <a:latin typeface="Calibri"/>
              <a:ea typeface="Calibri"/>
              <a:cs typeface="Calibri"/>
              <a:sym typeface="Calibri"/>
            </a:endParaRPr>
          </a:p>
        </p:txBody>
      </p:sp>
      <p:sp>
        <p:nvSpPr>
          <p:cNvPr id="200" name="Google Shape;200;p31"/>
          <p:cNvSpPr/>
          <p:nvPr/>
        </p:nvSpPr>
        <p:spPr>
          <a:xfrm>
            <a:off x="731520" y="1280160"/>
            <a:ext cx="7680960" cy="2743200"/>
          </a:xfrm>
          <a:prstGeom prst="rect">
            <a:avLst/>
          </a:prstGeom>
          <a:noFill/>
          <a:ln>
            <a:noFill/>
          </a:ln>
        </p:spPr>
        <p:txBody>
          <a:bodyPr anchorCtr="0" anchor="ctr" bIns="45700" lIns="91425" spcFirstLastPara="1" rIns="91425" wrap="square" tIns="45700">
            <a:noAutofit/>
          </a:bodyPr>
          <a:lstStyle/>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There is no gold-labeled test set, so every metric is measured against Llama's own labels</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The manual validation set is only 100 reviews, which is a sanity check rather than a firm estimate</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No hyperparameter search was run, so 76.7% reflects standard defaults rather than a tuned ceiling</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Sub-category extraction often returned Unknown, which weakened the stratified sampling</a:t>
            </a:r>
            <a:endParaRPr sz="15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32"/>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Future Work</a:t>
            </a:r>
            <a:endParaRPr sz="2800">
              <a:solidFill>
                <a:schemeClr val="lt1"/>
              </a:solidFill>
              <a:latin typeface="Calibri"/>
              <a:ea typeface="Calibri"/>
              <a:cs typeface="Calibri"/>
              <a:sym typeface="Calibri"/>
            </a:endParaRPr>
          </a:p>
        </p:txBody>
      </p:sp>
      <p:sp>
        <p:nvSpPr>
          <p:cNvPr id="208" name="Google Shape;208;p32"/>
          <p:cNvSpPr/>
          <p:nvPr/>
        </p:nvSpPr>
        <p:spPr>
          <a:xfrm>
            <a:off x="731520" y="1280160"/>
            <a:ext cx="7680960" cy="2743200"/>
          </a:xfrm>
          <a:prstGeom prst="rect">
            <a:avLst/>
          </a:prstGeom>
          <a:noFill/>
          <a:ln>
            <a:noFill/>
          </a:ln>
        </p:spPr>
        <p:txBody>
          <a:bodyPr anchorCtr="0" anchor="ctr" bIns="45700" lIns="91425" spcFirstLastPara="1" rIns="91425" wrap="square" tIns="45700">
            <a:noAutofit/>
          </a:bodyPr>
          <a:lstStyle/>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Build a hand-labeled test set that is fully independent of the LLM</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Run a proper learning rate and batch size search on the fine-tuning stage</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Fix the metadata parsing so stratified sampling covers sub-categories evenly</a:t>
            </a:r>
            <a:endParaRPr sz="1500">
              <a:solidFill>
                <a:schemeClr val="dk1"/>
              </a:solidFill>
              <a:latin typeface="Calibri"/>
              <a:ea typeface="Calibri"/>
              <a:cs typeface="Calibri"/>
              <a:sym typeface="Calibri"/>
            </a:endParaRPr>
          </a:p>
          <a:p>
            <a:pPr indent="-323850" lvl="0" marL="457200" marR="0" rtl="0" algn="l">
              <a:lnSpc>
                <a:spcPct val="150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Expand the manual validation set to cover more sub-categories</a:t>
            </a:r>
            <a:endParaRPr sz="15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p:nvPr/>
        </p:nvSpPr>
        <p:spPr>
          <a:xfrm>
            <a:off x="8500" y="9925"/>
            <a:ext cx="9144000" cy="904500"/>
          </a:xfrm>
          <a:prstGeom prst="rect">
            <a:avLst/>
          </a:prstGeom>
          <a:solidFill>
            <a:srgbClr val="1B3A5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33"/>
          <p:cNvSpPr/>
          <p:nvPr/>
        </p:nvSpPr>
        <p:spPr>
          <a:xfrm>
            <a:off x="548640" y="36576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2800"/>
              <a:buFont typeface="Calibri"/>
              <a:buNone/>
            </a:pPr>
            <a:r>
              <a:rPr b="1" lang="en" sz="2800">
                <a:solidFill>
                  <a:schemeClr val="lt1"/>
                </a:solidFill>
                <a:latin typeface="Calibri"/>
                <a:ea typeface="Calibri"/>
                <a:cs typeface="Calibri"/>
                <a:sym typeface="Calibri"/>
              </a:rPr>
              <a:t>Conclusion</a:t>
            </a:r>
            <a:endParaRPr sz="2800">
              <a:solidFill>
                <a:schemeClr val="lt1"/>
              </a:solidFill>
              <a:latin typeface="Calibri"/>
              <a:ea typeface="Calibri"/>
              <a:cs typeface="Calibri"/>
              <a:sym typeface="Calibri"/>
            </a:endParaRPr>
          </a:p>
        </p:txBody>
      </p:sp>
      <p:sp>
        <p:nvSpPr>
          <p:cNvPr id="216" name="Google Shape;216;p33"/>
          <p:cNvSpPr/>
          <p:nvPr/>
        </p:nvSpPr>
        <p:spPr>
          <a:xfrm>
            <a:off x="731520" y="1371600"/>
            <a:ext cx="7680960" cy="2743200"/>
          </a:xfrm>
          <a:prstGeom prst="rect">
            <a:avLst/>
          </a:prstGeom>
          <a:noFill/>
          <a:ln>
            <a:noFill/>
          </a:ln>
        </p:spPr>
        <p:txBody>
          <a:bodyPr anchorCtr="0" anchor="ctr" bIns="45700" lIns="91425" spcFirstLastPara="1" rIns="91425" wrap="square" tIns="45700">
            <a:noAutofit/>
          </a:bodyPr>
          <a:lstStyle/>
          <a:p>
            <a:pPr indent="-330200" lvl="0" marL="457200" marR="0" rtl="0" algn="l">
              <a:lnSpc>
                <a:spcPct val="150000"/>
              </a:lnSpc>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An LLM can generate the aspect-level training labels that normally require manual labeling</a:t>
            </a:r>
            <a:endParaRPr sz="1600">
              <a:solidFill>
                <a:schemeClr val="dk1"/>
              </a:solidFill>
              <a:latin typeface="Calibri"/>
              <a:ea typeface="Calibri"/>
              <a:cs typeface="Calibri"/>
              <a:sym typeface="Calibri"/>
            </a:endParaRPr>
          </a:p>
          <a:p>
            <a:pPr indent="-330200" lvl="0" marL="457200" marR="0" rtl="0" algn="l">
              <a:lnSpc>
                <a:spcPct val="150000"/>
              </a:lnSpc>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A much smaller model trained on those labels reaches 76.7% accuracy and 0.693 F1 Macro</a:t>
            </a:r>
            <a:endParaRPr sz="1600">
              <a:solidFill>
                <a:schemeClr val="dk1"/>
              </a:solidFill>
              <a:latin typeface="Calibri"/>
              <a:ea typeface="Calibri"/>
              <a:cs typeface="Calibri"/>
              <a:sym typeface="Calibri"/>
            </a:endParaRPr>
          </a:p>
          <a:p>
            <a:pPr indent="-330200" lvl="0" marL="457200" marR="0" rtl="0" algn="l">
              <a:lnSpc>
                <a:spcPct val="150000"/>
              </a:lnSpc>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ModernBERT outperforms all traditional baselines while running around 300 times faster than the LLM</a:t>
            </a:r>
            <a:endParaRPr sz="1600">
              <a:solidFill>
                <a:schemeClr val="dk1"/>
              </a:solidFill>
              <a:latin typeface="Calibri"/>
              <a:ea typeface="Calibri"/>
              <a:cs typeface="Calibri"/>
              <a:sym typeface="Calibri"/>
            </a:endParaRPr>
          </a:p>
          <a:p>
            <a:pPr indent="-330200" lvl="0" marL="457200" marR="0" rtl="0" algn="l">
              <a:lnSpc>
                <a:spcPct val="150000"/>
              </a:lnSpc>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Label agreement of 94% or higher supports the reliability of the silver labeling approach</a:t>
            </a:r>
            <a:endParaRPr sz="16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